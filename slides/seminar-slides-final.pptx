
<file path=[Content_Types].xml><?xml version="1.0" encoding="utf-8"?>
<Types xmlns="http://schemas.openxmlformats.org/package/2006/content-types"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20" Type="http://schemas.openxmlformats.org/officeDocument/2006/relationships/slide" Target="slides/slide1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43" Type="http://schemas.openxmlformats.org/officeDocument/2006/relationships/slide" Target="slides/slide38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9c573ff0d9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9c573ff0d9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9f6e0ff7de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9f6e0ff7de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9f6e0ff7de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9f6e0ff7de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6fc9eb4971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6fc9eb4971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6fc9eb4971_0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6fc9eb4971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9f6ea82313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9f6ea82313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9f6e0ff7de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9f6e0ff7de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9f6e0ff7de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9f6e0ff7de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9f6e0ff7de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9f6e0ff7de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9f6e0ff7de_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9f6e0ff7de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a1e62418b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a1e62418b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a1e62418ba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a1e62418ba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a1e62418ba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a1e62418ba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9f6e0ff7de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9f6e0ff7de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a22f9fc278_1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a22f9fc278_1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9f6e0ff7de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9f6e0ff7de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9f6e0ff7de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9f6e0ff7de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6fc9eb4971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6fc9eb4971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6fc9eb4971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36fc9eb4971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a22f9fc278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3a22f9fc278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a1e62418ba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3a1e62418ba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a22f9fc27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3a22f9fc27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a1e62418ba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3a1e62418ba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a114995bb5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3a114995bb5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a22f9fc278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3a22f9fc278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6fc9eb4971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36fc9eb4971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6fc9eb4971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" name="Google Shape;265;g36fc9eb4971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a114995bb5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" name="Google Shape;273;g3a114995bb5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a22f9fc278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3a22f9fc278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6fc9eb4971_0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36fc9eb4971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a22f9fc278_1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3a22f9fc278_1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a22f9fc278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3a22f9fc278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a22f9fc278_1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3a22f9fc278_1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6fc9eb4971_0_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" name="Google Shape;315;g36fc9eb4971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36fc9eb4971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36fc9eb4971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36fc9eb4971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9" name="Google Shape;329;g36fc9eb4971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36fc9eb4971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" name="Google Shape;334;g36fc9eb4971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6.png"/><Relationship Id="rId4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gif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4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5.png"/><Relationship Id="rId4" Type="http://schemas.openxmlformats.org/officeDocument/2006/relationships/image" Target="../media/image6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5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8.xml"/><Relationship Id="rId3" Type="http://schemas.openxmlformats.org/officeDocument/2006/relationships/hyperlink" Target="https://doi.org/10.1007/3-540-39200-9_18" TargetMode="External"/><Relationship Id="rId4" Type="http://schemas.openxmlformats.org/officeDocument/2006/relationships/hyperlink" Target="https://doi.org/10.1093/mind/LIX.236.433" TargetMode="External"/><Relationship Id="rId9" Type="http://schemas.openxmlformats.org/officeDocument/2006/relationships/hyperlink" Target="https://www.the-independent.com/tech/bots-internet-traffic-ai-chatgpt-b2733450.html" TargetMode="External"/><Relationship Id="rId5" Type="http://schemas.openxmlformats.org/officeDocument/2006/relationships/hyperlink" Target="https://doi.org/10.1126/science.1160379" TargetMode="External"/><Relationship Id="rId6" Type="http://schemas.openxmlformats.org/officeDocument/2006/relationships/hyperlink" Target="https://doi.org/10.1142/s0219467806002379" TargetMode="External"/><Relationship Id="rId7" Type="http://schemas.openxmlformats.org/officeDocument/2006/relationships/hyperlink" Target="https://trends.builtwith.com/widgets/reCAPTCHA" TargetMode="External"/><Relationship Id="rId8" Type="http://schemas.openxmlformats.org/officeDocument/2006/relationships/hyperlink" Target="https://doi.org/10.1109/EuroSP53844.2022.00050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9EAD3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latin typeface="Times New Roman"/>
                <a:ea typeface="Times New Roman"/>
                <a:cs typeface="Times New Roman"/>
                <a:sym typeface="Times New Roman"/>
              </a:rPr>
              <a:t>Assessing Flaws in CAPTCHA Security through Progress in AI</a:t>
            </a:r>
            <a:endParaRPr sz="4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797175"/>
            <a:ext cx="8520600" cy="1071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43434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Jaydon Stanislowski</a:t>
            </a:r>
            <a:endParaRPr sz="2400">
              <a:solidFill>
                <a:srgbClr val="43434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43434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University of Minnesota Morris</a:t>
            </a:r>
            <a:endParaRPr sz="2400">
              <a:solidFill>
                <a:srgbClr val="43434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6" name="Google Shape;56;p13"/>
          <p:cNvPicPr preferRelativeResize="0"/>
          <p:nvPr/>
        </p:nvPicPr>
        <p:blipFill rotWithShape="1">
          <a:blip r:embed="rId3">
            <a:alphaModFix/>
          </a:blip>
          <a:srcRect b="20393" l="17789" r="17666" t="20393"/>
          <a:stretch/>
        </p:blipFill>
        <p:spPr>
          <a:xfrm>
            <a:off x="2847300" y="3868700"/>
            <a:ext cx="3455775" cy="7926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9EAD3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Times New Roman"/>
                <a:ea typeface="Times New Roman"/>
                <a:cs typeface="Times New Roman"/>
                <a:sym typeface="Times New Roman"/>
              </a:rPr>
              <a:t>Outline</a:t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80600" y="1217000"/>
            <a:ext cx="4813800" cy="361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AutoNum type="arabicPeriod"/>
            </a:pPr>
            <a:r>
              <a:rPr lang="en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 to CAPTCHAs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AutoNum type="arabicPeriod"/>
            </a:pP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Modern CAPTCHAs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AutoNum type="arabicPeriod"/>
            </a:pPr>
            <a:r>
              <a:rPr lang="en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Reinforcement Learning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rabicPeriod"/>
            </a:pP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Attacking reCAPTCHA v3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rabicPeriod"/>
            </a:pP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Threat Analysis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rabicPeriod"/>
            </a:pP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3" name="Google Shape;63;p14"/>
          <p:cNvSpPr txBox="1"/>
          <p:nvPr/>
        </p:nvSpPr>
        <p:spPr>
          <a:xfrm>
            <a:off x="8229600" y="0"/>
            <a:ext cx="914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sz="3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9EAD3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555600"/>
            <a:ext cx="56928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Times New Roman"/>
                <a:ea typeface="Times New Roman"/>
                <a:cs typeface="Times New Roman"/>
                <a:sym typeface="Times New Roman"/>
              </a:rPr>
              <a:t>1. Introduction to CAPTCHA</a:t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1700" y="1389600"/>
            <a:ext cx="44301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810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●"/>
            </a:pPr>
            <a:r>
              <a:rPr lang="en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is a CAPTCHA?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●"/>
            </a:pPr>
            <a:r>
              <a:rPr lang="en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Motivation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●"/>
            </a:pPr>
            <a:r>
              <a:rPr lang="en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Early CAPTCHAs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0" name="Google Shape;70;p15"/>
          <p:cNvSpPr txBox="1"/>
          <p:nvPr/>
        </p:nvSpPr>
        <p:spPr>
          <a:xfrm>
            <a:off x="8229600" y="0"/>
            <a:ext cx="914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3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71" name="Google Shape;71;p15"/>
          <p:cNvPicPr preferRelativeResize="0"/>
          <p:nvPr/>
        </p:nvPicPr>
        <p:blipFill rotWithShape="1">
          <a:blip r:embed="rId3">
            <a:alphaModFix/>
          </a:blip>
          <a:srcRect b="11200" l="4494" r="5448" t="8858"/>
          <a:stretch/>
        </p:blipFill>
        <p:spPr>
          <a:xfrm>
            <a:off x="4163378" y="1581501"/>
            <a:ext cx="3329497" cy="1320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12010" y="3003675"/>
            <a:ext cx="2817590" cy="1565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9EAD3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type="title"/>
          </p:nvPr>
        </p:nvSpPr>
        <p:spPr>
          <a:xfrm>
            <a:off x="311700" y="4335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Times New Roman"/>
                <a:ea typeface="Times New Roman"/>
                <a:cs typeface="Times New Roman"/>
                <a:sym typeface="Times New Roman"/>
              </a:rPr>
              <a:t>What is a CAPTCHA?</a:t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8" name="Google Shape;78;p16"/>
          <p:cNvSpPr txBox="1"/>
          <p:nvPr>
            <p:ph idx="1" type="body"/>
          </p:nvPr>
        </p:nvSpPr>
        <p:spPr>
          <a:xfrm>
            <a:off x="311700" y="1152475"/>
            <a:ext cx="7917900" cy="36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Char char="●"/>
            </a:pPr>
            <a:r>
              <a:rPr b="1" lang="e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CAPTCHA</a:t>
            </a:r>
            <a:r>
              <a:rPr lang="e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- Completely Automated Public Turing test to tell Computers and Humans Apart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Char char="○"/>
            </a:pPr>
            <a:r>
              <a:rPr b="1" lang="e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Turing test</a:t>
            </a:r>
            <a:r>
              <a:rPr lang="e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- a thought experiment, measures machine intelligence with a human evaluator (Turing, 1950)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Char char="●"/>
            </a:pPr>
            <a:r>
              <a:rPr lang="e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lang="e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asks designed to be simple for humans, but hard for AI models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Char char="●"/>
            </a:pPr>
            <a:r>
              <a:rPr lang="e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Designed by Luis von Ahn et al. in the early 2000s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9" name="Google Shape;79;p16"/>
          <p:cNvSpPr txBox="1"/>
          <p:nvPr/>
        </p:nvSpPr>
        <p:spPr>
          <a:xfrm>
            <a:off x="8229600" y="0"/>
            <a:ext cx="914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sz="3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9EAD3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/>
          <p:nvPr>
            <p:ph type="title"/>
          </p:nvPr>
        </p:nvSpPr>
        <p:spPr>
          <a:xfrm>
            <a:off x="311700" y="394875"/>
            <a:ext cx="55473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Times New Roman"/>
                <a:ea typeface="Times New Roman"/>
                <a:cs typeface="Times New Roman"/>
                <a:sym typeface="Times New Roman"/>
              </a:rPr>
              <a:t>Motivation</a:t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5" name="Google Shape;85;p17"/>
          <p:cNvSpPr txBox="1"/>
          <p:nvPr/>
        </p:nvSpPr>
        <p:spPr>
          <a:xfrm>
            <a:off x="8229600" y="0"/>
            <a:ext cx="914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sz="3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6" name="Google Shape;86;p17"/>
          <p:cNvSpPr txBox="1"/>
          <p:nvPr>
            <p:ph idx="1" type="body"/>
          </p:nvPr>
        </p:nvSpPr>
        <p:spPr>
          <a:xfrm>
            <a:off x="311700" y="1251825"/>
            <a:ext cx="79179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●"/>
            </a:pPr>
            <a:r>
              <a:rPr lang="en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Artificial web traffic can have various malicious motives: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○"/>
            </a:pPr>
            <a:r>
              <a:rPr lang="en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Credential stuffing/brute force attacks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○"/>
            </a:pPr>
            <a:r>
              <a:rPr lang="en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Fake account creation and engagement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○"/>
            </a:pPr>
            <a:r>
              <a:rPr lang="en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Spam, extortion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○"/>
            </a:pPr>
            <a:r>
              <a:rPr lang="en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Web scraping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●"/>
            </a:pPr>
            <a:r>
              <a:rPr lang="en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Despite this, it is more prevalent than ever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9EAD3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8"/>
          <p:cNvSpPr txBox="1"/>
          <p:nvPr/>
        </p:nvSpPr>
        <p:spPr>
          <a:xfrm>
            <a:off x="8229600" y="0"/>
            <a:ext cx="914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sz="3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2" name="Google Shape;92;p18" title="bot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65975" y="217375"/>
            <a:ext cx="6812048" cy="393872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93" name="Google Shape;93;p18"/>
          <p:cNvSpPr txBox="1"/>
          <p:nvPr/>
        </p:nvSpPr>
        <p:spPr>
          <a:xfrm>
            <a:off x="868950" y="4156100"/>
            <a:ext cx="74061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Area chart depicting the rise in artificial web traffic since 2015. | The Independent (adapted from Imperva 2025 Bad Bot Report) </a:t>
            </a:r>
            <a:endParaRPr sz="16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9EAD3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Times New Roman"/>
                <a:ea typeface="Times New Roman"/>
                <a:cs typeface="Times New Roman"/>
                <a:sym typeface="Times New Roman"/>
              </a:rPr>
              <a:t>Early CAPTCHAs</a:t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138175"/>
            <a:ext cx="4808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Text-based</a:t>
            </a: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challenges: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●"/>
            </a:pP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Participants must transcribe text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●"/>
            </a:pP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Text is typically distorted to make it hard for machines to read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●"/>
            </a:pP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Random noise, warping, rotating, etc.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0" name="Google Shape;100;p19"/>
          <p:cNvSpPr txBox="1"/>
          <p:nvPr/>
        </p:nvSpPr>
        <p:spPr>
          <a:xfrm>
            <a:off x="8229600" y="0"/>
            <a:ext cx="914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endParaRPr sz="3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1" name="Google Shape;101;p19"/>
          <p:cNvPicPr preferRelativeResize="0"/>
          <p:nvPr/>
        </p:nvPicPr>
        <p:blipFill rotWithShape="1">
          <a:blip r:embed="rId3">
            <a:alphaModFix/>
          </a:blip>
          <a:srcRect b="11200" l="4494" r="5448" t="8858"/>
          <a:stretch/>
        </p:blipFill>
        <p:spPr>
          <a:xfrm>
            <a:off x="5502803" y="1343376"/>
            <a:ext cx="3329497" cy="1320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75810" y="2989250"/>
            <a:ext cx="2817590" cy="1565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9EAD3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0"/>
          <p:cNvSpPr txBox="1"/>
          <p:nvPr>
            <p:ph idx="1" type="body"/>
          </p:nvPr>
        </p:nvSpPr>
        <p:spPr>
          <a:xfrm>
            <a:off x="311700" y="1226925"/>
            <a:ext cx="8520600" cy="36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●"/>
            </a:pPr>
            <a:r>
              <a:rPr b="1"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</a:t>
            </a:r>
            <a:r>
              <a:rPr b="1"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APTCHA</a:t>
            </a: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version 1 began as text-based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○"/>
            </a:pPr>
            <a:r>
              <a:rPr lang="en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Developed by Luis von Ahn et al. in 2007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○"/>
            </a:pPr>
            <a:r>
              <a:rPr lang="en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Acquired by Google two years later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●"/>
            </a:pP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Other text-based frameworks included Gimpy, hCAPTCHA, etc.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●"/>
            </a:pP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reCAPTCHA v1 deprecated in 2018. reCAPTCHA v3 is the latest version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8" name="Google Shape;108;p20"/>
          <p:cNvSpPr txBox="1"/>
          <p:nvPr/>
        </p:nvSpPr>
        <p:spPr>
          <a:xfrm>
            <a:off x="8229600" y="0"/>
            <a:ext cx="914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endParaRPr sz="3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9" name="Google Shape;109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Times New Roman"/>
                <a:ea typeface="Times New Roman"/>
                <a:cs typeface="Times New Roman"/>
                <a:sym typeface="Times New Roman"/>
              </a:rPr>
              <a:t>Early CAPTCHAs</a:t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9EAD3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1"/>
          <p:cNvSpPr txBox="1"/>
          <p:nvPr>
            <p:ph type="title"/>
          </p:nvPr>
        </p:nvSpPr>
        <p:spPr>
          <a:xfrm>
            <a:off x="311700" y="555600"/>
            <a:ext cx="55473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Times New Roman"/>
                <a:ea typeface="Times New Roman"/>
                <a:cs typeface="Times New Roman"/>
                <a:sym typeface="Times New Roman"/>
              </a:rPr>
              <a:t>2. Modern CAPTCHAs</a:t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5" name="Google Shape;115;p21"/>
          <p:cNvSpPr txBox="1"/>
          <p:nvPr>
            <p:ph idx="1" type="body"/>
          </p:nvPr>
        </p:nvSpPr>
        <p:spPr>
          <a:xfrm>
            <a:off x="311700" y="1389600"/>
            <a:ext cx="42603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●"/>
            </a:pPr>
            <a:r>
              <a:rPr lang="en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Common Types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●"/>
            </a:pPr>
            <a:r>
              <a:rPr lang="en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reCAPTCHA v3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●"/>
            </a:pP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Why reCAPTCHA?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6" name="Google Shape;116;p21"/>
          <p:cNvSpPr txBox="1"/>
          <p:nvPr/>
        </p:nvSpPr>
        <p:spPr>
          <a:xfrm>
            <a:off x="8229600" y="0"/>
            <a:ext cx="914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endParaRPr sz="3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17" name="Google Shape;117;p21"/>
          <p:cNvPicPr preferRelativeResize="0"/>
          <p:nvPr/>
        </p:nvPicPr>
        <p:blipFill rotWithShape="1">
          <a:blip r:embed="rId3">
            <a:alphaModFix/>
          </a:blip>
          <a:srcRect b="0" l="26399" r="26536" t="0"/>
          <a:stretch/>
        </p:blipFill>
        <p:spPr>
          <a:xfrm>
            <a:off x="5717125" y="1460300"/>
            <a:ext cx="1819550" cy="19329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96751" y="2642907"/>
            <a:ext cx="4260301" cy="23964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9EAD3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Times New Roman"/>
                <a:ea typeface="Times New Roman"/>
                <a:cs typeface="Times New Roman"/>
                <a:sym typeface="Times New Roman"/>
              </a:rPr>
              <a:t>Common Types</a:t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4" name="Google Shape;124;p22"/>
          <p:cNvSpPr txBox="1"/>
          <p:nvPr/>
        </p:nvSpPr>
        <p:spPr>
          <a:xfrm>
            <a:off x="8229600" y="0"/>
            <a:ext cx="914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</a:t>
            </a:r>
            <a:endParaRPr sz="3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5" name="Google Shape;125;p22"/>
          <p:cNvSpPr txBox="1"/>
          <p:nvPr>
            <p:ph idx="1" type="body"/>
          </p:nvPr>
        </p:nvSpPr>
        <p:spPr>
          <a:xfrm>
            <a:off x="311700" y="1183850"/>
            <a:ext cx="4498800" cy="361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Many challenge types exist now, but are outside of the scope of this presentation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●"/>
            </a:pP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Image-based challenges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●"/>
            </a:pP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Audio-based challenges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●"/>
            </a:pP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Spatial reasoning challenges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26" name="Google Shape;126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67125" y="826775"/>
            <a:ext cx="2768950" cy="413055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9EAD3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Times New Roman"/>
                <a:ea typeface="Times New Roman"/>
                <a:cs typeface="Times New Roman"/>
                <a:sym typeface="Times New Roman"/>
              </a:rPr>
              <a:t>reCAPTCHA v3</a:t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2" name="Google Shape;132;p23"/>
          <p:cNvSpPr txBox="1"/>
          <p:nvPr/>
        </p:nvSpPr>
        <p:spPr>
          <a:xfrm>
            <a:off x="8229600" y="0"/>
            <a:ext cx="914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endParaRPr sz="3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3" name="Google Shape;133;p23"/>
          <p:cNvSpPr txBox="1"/>
          <p:nvPr>
            <p:ph idx="1" type="body"/>
          </p:nvPr>
        </p:nvSpPr>
        <p:spPr>
          <a:xfrm>
            <a:off x="311700" y="1183850"/>
            <a:ext cx="7917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●"/>
            </a:pP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Intended to reduce friction for real users, removing the actual "challenge," entirely invisible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●"/>
            </a:pP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Uses </a:t>
            </a:r>
            <a:r>
              <a:rPr b="1"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behavior metrics</a:t>
            </a: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calculates likelihood of a bot based on browser activity (cookies, inputs, etc.), directly embedded into site interactions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●"/>
            </a:pP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Earlier version, reCAPTCHA v2, did this using a checkbox challenge (i.e. not invisible)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9EAD3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Times New Roman"/>
                <a:ea typeface="Times New Roman"/>
                <a:cs typeface="Times New Roman"/>
                <a:sym typeface="Times New Roman"/>
              </a:rPr>
              <a:t>reCAPTCHA v3</a:t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9" name="Google Shape;139;p24"/>
          <p:cNvSpPr txBox="1"/>
          <p:nvPr/>
        </p:nvSpPr>
        <p:spPr>
          <a:xfrm>
            <a:off x="8229600" y="0"/>
            <a:ext cx="914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11</a:t>
            </a:r>
            <a:endParaRPr sz="3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0" name="Google Shape;140;p24"/>
          <p:cNvSpPr txBox="1"/>
          <p:nvPr>
            <p:ph idx="1" type="body"/>
          </p:nvPr>
        </p:nvSpPr>
        <p:spPr>
          <a:xfrm>
            <a:off x="311700" y="1183850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rabicPeriod"/>
            </a:pP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reCAPTCHA v3 is invoked, the website sends metrics and invocation context to Google's servers, collected by the tool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rabicPeriod"/>
            </a:pP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Google generates a token to be verified by the site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41" name="Google Shape;141;p24" title="v3-workflo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57498" y="738899"/>
            <a:ext cx="4074801" cy="409977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42" name="Google Shape;142;p24"/>
          <p:cNvSpPr txBox="1"/>
          <p:nvPr/>
        </p:nvSpPr>
        <p:spPr>
          <a:xfrm>
            <a:off x="311700" y="4407575"/>
            <a:ext cx="6613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43434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reCAPTCHA v3 workflow | Joosen et al.</a:t>
            </a:r>
            <a:endParaRPr sz="1600">
              <a:solidFill>
                <a:srgbClr val="43434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9EAD3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Times New Roman"/>
                <a:ea typeface="Times New Roman"/>
                <a:cs typeface="Times New Roman"/>
                <a:sym typeface="Times New Roman"/>
              </a:rPr>
              <a:t>reCAPTCHA v3</a:t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8" name="Google Shape;148;p25"/>
          <p:cNvSpPr txBox="1"/>
          <p:nvPr/>
        </p:nvSpPr>
        <p:spPr>
          <a:xfrm>
            <a:off x="8229600" y="0"/>
            <a:ext cx="914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</a:t>
            </a:r>
            <a:endParaRPr sz="3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" name="Google Shape;149;p25"/>
          <p:cNvSpPr txBox="1"/>
          <p:nvPr>
            <p:ph idx="1" type="body"/>
          </p:nvPr>
        </p:nvSpPr>
        <p:spPr>
          <a:xfrm>
            <a:off x="311700" y="1183850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rabicPeriod" startAt="3"/>
            </a:pP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token is sent to the web server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rabicPeriod" startAt="3"/>
            </a:pP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server verifies the token with the site's key and sends this to Google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rabicPeriod" startAt="3"/>
            </a:pP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Google returns a formatted score, which can be used by the website to take necessary actions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50" name="Google Shape;150;p25" title="v3-workflo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57498" y="738899"/>
            <a:ext cx="4074801" cy="409977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51" name="Google Shape;151;p25"/>
          <p:cNvSpPr txBox="1"/>
          <p:nvPr/>
        </p:nvSpPr>
        <p:spPr>
          <a:xfrm>
            <a:off x="311700" y="4407575"/>
            <a:ext cx="6613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43434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reCAPTCHA v3 workflow | Joosen et al.</a:t>
            </a:r>
            <a:endParaRPr sz="1600">
              <a:solidFill>
                <a:srgbClr val="43434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9EAD3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Times New Roman"/>
                <a:ea typeface="Times New Roman"/>
                <a:cs typeface="Times New Roman"/>
                <a:sym typeface="Times New Roman"/>
              </a:rPr>
              <a:t>reCAPTCHA v3</a:t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7" name="Google Shape;157;p26"/>
          <p:cNvSpPr txBox="1"/>
          <p:nvPr/>
        </p:nvSpPr>
        <p:spPr>
          <a:xfrm>
            <a:off x="8229600" y="0"/>
            <a:ext cx="914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13</a:t>
            </a:r>
            <a:endParaRPr sz="3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8" name="Google Shape;158;p26"/>
          <p:cNvSpPr txBox="1"/>
          <p:nvPr>
            <p:ph idx="1" type="body"/>
          </p:nvPr>
        </p:nvSpPr>
        <p:spPr>
          <a:xfrm>
            <a:off x="311700" y="1183850"/>
            <a:ext cx="7917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Considerations: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●"/>
            </a:pP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Code is proprietary, details are intentionally obfuscated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●"/>
            </a:pP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Calculations may be randomly skewed to deter probing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●"/>
            </a:pP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Score itself is not descriptive, only a discrete number   {0.1, 0.3, 0.5, 0.7, 0.9}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●"/>
            </a:pP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Lower score means more likely to be a bot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9EAD3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Times New Roman"/>
                <a:ea typeface="Times New Roman"/>
                <a:cs typeface="Times New Roman"/>
                <a:sym typeface="Times New Roman"/>
              </a:rPr>
              <a:t>Why reCAPTCHA?</a:t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4" name="Google Shape;164;p27"/>
          <p:cNvSpPr txBox="1"/>
          <p:nvPr/>
        </p:nvSpPr>
        <p:spPr>
          <a:xfrm>
            <a:off x="8229600" y="0"/>
            <a:ext cx="914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14</a:t>
            </a:r>
            <a:endParaRPr sz="3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5" name="Google Shape;165;p27"/>
          <p:cNvSpPr txBox="1"/>
          <p:nvPr>
            <p:ph idx="1" type="body"/>
          </p:nvPr>
        </p:nvSpPr>
        <p:spPr>
          <a:xfrm>
            <a:off x="311700" y="1183850"/>
            <a:ext cx="8017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●"/>
            </a:pP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Over 10 million websites as of 2025 (BuiltWith)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○"/>
            </a:pP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includes GitHub, Reddit, Amazon, and more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●"/>
            </a:pP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Designs of reCAPTCHA v3 are applied in other CAPTCHA frameworks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○"/>
            </a:pPr>
            <a:r>
              <a:rPr lang="en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Notably, Turnstile and newer versions of hCAPTCHA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66" name="Google Shape;166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81900" y="4031938"/>
            <a:ext cx="4876800" cy="1038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9EAD3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8"/>
          <p:cNvSpPr txBox="1"/>
          <p:nvPr>
            <p:ph type="title"/>
          </p:nvPr>
        </p:nvSpPr>
        <p:spPr>
          <a:xfrm>
            <a:off x="311700" y="555600"/>
            <a:ext cx="55473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" sz="3600">
                <a:latin typeface="Times New Roman"/>
                <a:ea typeface="Times New Roman"/>
                <a:cs typeface="Times New Roman"/>
                <a:sym typeface="Times New Roman"/>
              </a:rPr>
              <a:t>. Reinforcement Learning</a:t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2" name="Google Shape;172;p28"/>
          <p:cNvSpPr txBox="1"/>
          <p:nvPr/>
        </p:nvSpPr>
        <p:spPr>
          <a:xfrm>
            <a:off x="8229600" y="0"/>
            <a:ext cx="914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15</a:t>
            </a:r>
            <a:endParaRPr sz="3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73" name="Google Shape;173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08300" y="1389600"/>
            <a:ext cx="3527400" cy="3527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9EAD3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Times New Roman"/>
                <a:ea typeface="Times New Roman"/>
                <a:cs typeface="Times New Roman"/>
                <a:sym typeface="Times New Roman"/>
              </a:rPr>
              <a:t>Overview</a:t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9" name="Google Shape;179;p29"/>
          <p:cNvSpPr txBox="1"/>
          <p:nvPr/>
        </p:nvSpPr>
        <p:spPr>
          <a:xfrm>
            <a:off x="8229600" y="0"/>
            <a:ext cx="914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16</a:t>
            </a:r>
            <a:endParaRPr sz="3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0" name="Google Shape;180;p29"/>
          <p:cNvSpPr txBox="1"/>
          <p:nvPr>
            <p:ph idx="1" type="body"/>
          </p:nvPr>
        </p:nvSpPr>
        <p:spPr>
          <a:xfrm>
            <a:off x="311700" y="1183850"/>
            <a:ext cx="8017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●"/>
            </a:pP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Machine learning paradigm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●"/>
            </a:pP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Employed when computers interact with an environment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○"/>
            </a:pPr>
            <a:r>
              <a:rPr lang="en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Applications in robotics, social media algorithms, strategy games, etc.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●"/>
            </a:pP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Agent is given a set of actions to do so, choices are initially random</a:t>
            </a:r>
            <a:endParaRPr sz="1400">
              <a:solidFill>
                <a:srgbClr val="43434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9EAD3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Times New Roman"/>
                <a:ea typeface="Times New Roman"/>
                <a:cs typeface="Times New Roman"/>
                <a:sym typeface="Times New Roman"/>
              </a:rPr>
              <a:t>Overview</a:t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6" name="Google Shape;186;p30"/>
          <p:cNvSpPr txBox="1"/>
          <p:nvPr/>
        </p:nvSpPr>
        <p:spPr>
          <a:xfrm>
            <a:off x="8229600" y="0"/>
            <a:ext cx="914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17</a:t>
            </a:r>
            <a:endParaRPr sz="3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7" name="Google Shape;187;p30"/>
          <p:cNvSpPr txBox="1"/>
          <p:nvPr>
            <p:ph idx="1" type="body"/>
          </p:nvPr>
        </p:nvSpPr>
        <p:spPr>
          <a:xfrm>
            <a:off x="311700" y="1183850"/>
            <a:ext cx="4064400" cy="367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●"/>
            </a:pP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agent observes its current state to alter chance of making decisions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●"/>
            </a:pPr>
            <a:r>
              <a:rPr lang="en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Reward score influences these changes, agent must try to maximize it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88" name="Google Shape;188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90231" y="1302914"/>
            <a:ext cx="4220931" cy="249322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89" name="Google Shape;189;p30"/>
          <p:cNvSpPr txBox="1"/>
          <p:nvPr/>
        </p:nvSpPr>
        <p:spPr>
          <a:xfrm>
            <a:off x="4199050" y="4292950"/>
            <a:ext cx="13500" cy="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90" name="Google Shape;190;p30"/>
          <p:cNvSpPr txBox="1"/>
          <p:nvPr/>
        </p:nvSpPr>
        <p:spPr>
          <a:xfrm>
            <a:off x="4085338" y="3957100"/>
            <a:ext cx="50307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43434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Block diagram modeling basic principles of reinforcement learning | Tizhoosh, Taylor</a:t>
            </a:r>
            <a:endParaRPr sz="1800">
              <a:solidFill>
                <a:srgbClr val="43434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9EAD3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1"/>
          <p:cNvSpPr txBox="1"/>
          <p:nvPr>
            <p:ph type="title"/>
          </p:nvPr>
        </p:nvSpPr>
        <p:spPr>
          <a:xfrm>
            <a:off x="311700" y="555600"/>
            <a:ext cx="59265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Times New Roman"/>
                <a:ea typeface="Times New Roman"/>
                <a:cs typeface="Times New Roman"/>
                <a:sym typeface="Times New Roman"/>
              </a:rPr>
              <a:t>4. Attacking reCAPTCHA v3</a:t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6" name="Google Shape;196;p31"/>
          <p:cNvSpPr txBox="1"/>
          <p:nvPr/>
        </p:nvSpPr>
        <p:spPr>
          <a:xfrm>
            <a:off x="8229600" y="0"/>
            <a:ext cx="914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18</a:t>
            </a:r>
            <a:endParaRPr sz="3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7" name="Google Shape;197;p31"/>
          <p:cNvSpPr txBox="1"/>
          <p:nvPr>
            <p:ph idx="1" type="body"/>
          </p:nvPr>
        </p:nvSpPr>
        <p:spPr>
          <a:xfrm>
            <a:off x="311700" y="1389600"/>
            <a:ext cx="42603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●"/>
            </a:pPr>
            <a:r>
              <a:rPr lang="en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Bypassing Behavior Metrics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●"/>
            </a:pPr>
            <a:r>
              <a:rPr lang="en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Results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98" name="Google Shape;198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53025" y="1593286"/>
            <a:ext cx="3767299" cy="2975724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9EAD3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2"/>
          <p:cNvSpPr txBox="1"/>
          <p:nvPr>
            <p:ph type="title"/>
          </p:nvPr>
        </p:nvSpPr>
        <p:spPr>
          <a:xfrm>
            <a:off x="311700" y="555600"/>
            <a:ext cx="76791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Times New Roman"/>
                <a:ea typeface="Times New Roman"/>
                <a:cs typeface="Times New Roman"/>
                <a:sym typeface="Times New Roman"/>
              </a:rPr>
              <a:t>Bypassing Behavior Metrics</a:t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4" name="Google Shape;204;p32"/>
          <p:cNvSpPr txBox="1"/>
          <p:nvPr/>
        </p:nvSpPr>
        <p:spPr>
          <a:xfrm>
            <a:off x="8229600" y="0"/>
            <a:ext cx="914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19</a:t>
            </a:r>
            <a:endParaRPr sz="3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5" name="Google Shape;205;p32"/>
          <p:cNvSpPr txBox="1"/>
          <p:nvPr>
            <p:ph idx="1" type="body"/>
          </p:nvPr>
        </p:nvSpPr>
        <p:spPr>
          <a:xfrm>
            <a:off x="311700" y="1389600"/>
            <a:ext cx="7917900" cy="343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-36957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/>
              <a:buChar char="●"/>
            </a:pPr>
            <a:r>
              <a:rPr lang="en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Browser activity that may be measured (Joosen et al., 2022):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957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/>
              <a:buChar char="○"/>
            </a:pPr>
            <a:r>
              <a:rPr b="1" lang="en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Static features</a:t>
            </a:r>
            <a:r>
              <a:rPr lang="en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presence of cookies, IP address, browser, operating system, etc.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957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/>
              <a:buChar char="○"/>
            </a:pPr>
            <a:r>
              <a:rPr b="1" lang="en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Dynamic features</a:t>
            </a:r>
            <a:r>
              <a:rPr lang="en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mouse and keyboard inputs, timings, request frequency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957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/>
              <a:buChar char="●"/>
            </a:pPr>
            <a:r>
              <a:rPr lang="en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reCAPTCHA v3 obscures how much these are measured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9EAD3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3"/>
          <p:cNvSpPr txBox="1"/>
          <p:nvPr>
            <p:ph type="title"/>
          </p:nvPr>
        </p:nvSpPr>
        <p:spPr>
          <a:xfrm>
            <a:off x="311700" y="555600"/>
            <a:ext cx="76791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Times New Roman"/>
                <a:ea typeface="Times New Roman"/>
                <a:cs typeface="Times New Roman"/>
                <a:sym typeface="Times New Roman"/>
              </a:rPr>
              <a:t>Bypassing Behavior Metrics</a:t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1" name="Google Shape;211;p33"/>
          <p:cNvSpPr txBox="1"/>
          <p:nvPr/>
        </p:nvSpPr>
        <p:spPr>
          <a:xfrm>
            <a:off x="8229600" y="0"/>
            <a:ext cx="914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</a:t>
            </a:r>
            <a:endParaRPr sz="3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2" name="Google Shape;212;p33"/>
          <p:cNvSpPr txBox="1"/>
          <p:nvPr>
            <p:ph idx="1" type="body"/>
          </p:nvPr>
        </p:nvSpPr>
        <p:spPr>
          <a:xfrm>
            <a:off x="311700" y="1389600"/>
            <a:ext cx="7917900" cy="343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Static features: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●"/>
            </a:pPr>
            <a:r>
              <a:rPr lang="en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Sivakorn et al. (2016) determined static features to have a very strong positive influence on score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●"/>
            </a:pPr>
            <a:r>
              <a:rPr lang="en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such cases, dynamic features have very minimal effect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●"/>
            </a:pPr>
            <a:r>
              <a:rPr lang="en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Goal of this research is to exploit dynamic features starting from a low score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9EAD3"/>
        </a:solid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4"/>
          <p:cNvSpPr txBox="1"/>
          <p:nvPr>
            <p:ph type="title"/>
          </p:nvPr>
        </p:nvSpPr>
        <p:spPr>
          <a:xfrm>
            <a:off x="311700" y="555600"/>
            <a:ext cx="76791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Times New Roman"/>
                <a:ea typeface="Times New Roman"/>
                <a:cs typeface="Times New Roman"/>
                <a:sym typeface="Times New Roman"/>
              </a:rPr>
              <a:t>Bypassing Behavior Metrics</a:t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8" name="Google Shape;218;p34"/>
          <p:cNvSpPr txBox="1"/>
          <p:nvPr/>
        </p:nvSpPr>
        <p:spPr>
          <a:xfrm>
            <a:off x="8229600" y="0"/>
            <a:ext cx="914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21</a:t>
            </a:r>
            <a:endParaRPr sz="3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9" name="Google Shape;219;p34"/>
          <p:cNvSpPr txBox="1"/>
          <p:nvPr>
            <p:ph idx="1" type="body"/>
          </p:nvPr>
        </p:nvSpPr>
        <p:spPr>
          <a:xfrm>
            <a:off x="311700" y="1389600"/>
            <a:ext cx="7917900" cy="343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Measuring dynamic features: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●"/>
            </a:pPr>
            <a:r>
              <a:rPr lang="en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Treating the score as an "oracle" — specific states of the environment aren't needed. Instead, fine tune behaviors based on the output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●"/>
            </a:pPr>
            <a:r>
              <a:rPr lang="en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RL agent makes assumptions about its environment and learns accordingly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9EAD3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5"/>
          <p:cNvSpPr txBox="1"/>
          <p:nvPr>
            <p:ph type="title"/>
          </p:nvPr>
        </p:nvSpPr>
        <p:spPr>
          <a:xfrm>
            <a:off x="311700" y="555600"/>
            <a:ext cx="76791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Times New Roman"/>
                <a:ea typeface="Times New Roman"/>
                <a:cs typeface="Times New Roman"/>
                <a:sym typeface="Times New Roman"/>
              </a:rPr>
              <a:t>Bypassing Behavior Metrics</a:t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5" name="Google Shape;225;p35"/>
          <p:cNvSpPr txBox="1"/>
          <p:nvPr/>
        </p:nvSpPr>
        <p:spPr>
          <a:xfrm>
            <a:off x="8229600" y="0"/>
            <a:ext cx="914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22</a:t>
            </a:r>
            <a:endParaRPr sz="3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6" name="Google Shape;226;p35"/>
          <p:cNvSpPr txBox="1"/>
          <p:nvPr>
            <p:ph idx="1" type="body"/>
          </p:nvPr>
        </p:nvSpPr>
        <p:spPr>
          <a:xfrm>
            <a:off x="311700" y="1389600"/>
            <a:ext cx="7917900" cy="343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●"/>
            </a:pPr>
            <a:r>
              <a:rPr lang="en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Joosen et al. trained their bot on three websites: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○"/>
            </a:pPr>
            <a:r>
              <a:rPr b="1" lang="en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Website A</a:t>
            </a:r>
            <a:r>
              <a:rPr lang="en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hosted by researchers, implementing reCAPTCHA v3; training only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○"/>
            </a:pPr>
            <a:r>
              <a:rPr b="1" lang="en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Website B</a:t>
            </a:r>
            <a:r>
              <a:rPr lang="en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hundreds of daily requests, only recently deployed reCAPTCHA v3; partial training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○"/>
            </a:pPr>
            <a:r>
              <a:rPr b="1" lang="en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Website C</a:t>
            </a:r>
            <a:r>
              <a:rPr lang="en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thousands of daily requests, already fully integrated reCAPTCHA v3; full deployment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9EAD3"/>
        </a:solid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6"/>
          <p:cNvSpPr txBox="1"/>
          <p:nvPr>
            <p:ph type="title"/>
          </p:nvPr>
        </p:nvSpPr>
        <p:spPr>
          <a:xfrm>
            <a:off x="311700" y="555600"/>
            <a:ext cx="76791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Times New Roman"/>
                <a:ea typeface="Times New Roman"/>
                <a:cs typeface="Times New Roman"/>
                <a:sym typeface="Times New Roman"/>
              </a:rPr>
              <a:t>Bypassing Behavior Metrics</a:t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2" name="Google Shape;232;p36"/>
          <p:cNvSpPr txBox="1"/>
          <p:nvPr/>
        </p:nvSpPr>
        <p:spPr>
          <a:xfrm>
            <a:off x="8229600" y="0"/>
            <a:ext cx="914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23</a:t>
            </a:r>
            <a:endParaRPr sz="3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3" name="Google Shape;233;p36"/>
          <p:cNvSpPr txBox="1"/>
          <p:nvPr>
            <p:ph idx="1" type="body"/>
          </p:nvPr>
        </p:nvSpPr>
        <p:spPr>
          <a:xfrm>
            <a:off x="311700" y="1389600"/>
            <a:ext cx="7917900" cy="343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●"/>
            </a:pPr>
            <a:r>
              <a:rPr lang="en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Two modes of the bot were deployed in testing to assess score impact of dynamic features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●"/>
            </a:pPr>
            <a:r>
              <a:rPr b="1" i="1" lang="en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Bezier</a:t>
            </a:r>
            <a:r>
              <a:rPr lang="en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Can only move mouse in curved patterns and click, as well as time mouse inputs, hover duration, etc.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●"/>
            </a:pPr>
            <a:r>
              <a:rPr b="1" i="1" lang="en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Abstract</a:t>
            </a:r>
            <a:r>
              <a:rPr lang="en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Freedom over mouse movements and timings, plus keyboard inputs and scrolling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9EAD3"/>
        </a:solid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7"/>
          <p:cNvSpPr txBox="1"/>
          <p:nvPr>
            <p:ph type="title"/>
          </p:nvPr>
        </p:nvSpPr>
        <p:spPr>
          <a:xfrm>
            <a:off x="311700" y="555600"/>
            <a:ext cx="76791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Times New Roman"/>
                <a:ea typeface="Times New Roman"/>
                <a:cs typeface="Times New Roman"/>
                <a:sym typeface="Times New Roman"/>
              </a:rPr>
              <a:t>Results</a:t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9" name="Google Shape;239;p37"/>
          <p:cNvSpPr txBox="1"/>
          <p:nvPr/>
        </p:nvSpPr>
        <p:spPr>
          <a:xfrm>
            <a:off x="8229600" y="0"/>
            <a:ext cx="914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24</a:t>
            </a:r>
            <a:endParaRPr sz="3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0" name="Google Shape;240;p37"/>
          <p:cNvSpPr txBox="1"/>
          <p:nvPr/>
        </p:nvSpPr>
        <p:spPr>
          <a:xfrm>
            <a:off x="217725" y="1381900"/>
            <a:ext cx="3866400" cy="31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Char char="●"/>
            </a:pP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baseline (naive) algorithm was used to assess score improvement via RL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Char char="●"/>
            </a:pPr>
            <a:r>
              <a:rPr i="1" lang="en" sz="2400">
                <a:latin typeface="Times New Roman"/>
                <a:ea typeface="Times New Roman"/>
                <a:cs typeface="Times New Roman"/>
                <a:sym typeface="Times New Roman"/>
              </a:rPr>
              <a:t>Bezier</a:t>
            </a:r>
            <a:r>
              <a:rPr lang="en" sz="2400">
                <a:latin typeface="Times New Roman"/>
                <a:ea typeface="Times New Roman"/>
                <a:cs typeface="Times New Roman"/>
                <a:sym typeface="Times New Roman"/>
              </a:rPr>
              <a:t> and </a:t>
            </a:r>
            <a:r>
              <a:rPr i="1" lang="en" sz="2400">
                <a:latin typeface="Times New Roman"/>
                <a:ea typeface="Times New Roman"/>
                <a:cs typeface="Times New Roman"/>
                <a:sym typeface="Times New Roman"/>
              </a:rPr>
              <a:t>Abstract</a:t>
            </a:r>
            <a:r>
              <a:rPr lang="en" sz="2400">
                <a:latin typeface="Times New Roman"/>
                <a:ea typeface="Times New Roman"/>
                <a:cs typeface="Times New Roman"/>
                <a:sym typeface="Times New Roman"/>
              </a:rPr>
              <a:t> deployed on B, with </a:t>
            </a:r>
            <a:r>
              <a:rPr i="1" lang="en" sz="2400">
                <a:latin typeface="Times New Roman"/>
                <a:ea typeface="Times New Roman"/>
                <a:cs typeface="Times New Roman"/>
                <a:sym typeface="Times New Roman"/>
              </a:rPr>
              <a:t>Abstract</a:t>
            </a:r>
            <a:r>
              <a:rPr lang="en" sz="2400">
                <a:latin typeface="Times New Roman"/>
                <a:ea typeface="Times New Roman"/>
                <a:cs typeface="Times New Roman"/>
                <a:sym typeface="Times New Roman"/>
              </a:rPr>
              <a:t> in its training mode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41" name="Google Shape;241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84100" y="738900"/>
            <a:ext cx="5059899" cy="330955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42" name="Google Shape;242;p37"/>
          <p:cNvSpPr txBox="1"/>
          <p:nvPr/>
        </p:nvSpPr>
        <p:spPr>
          <a:xfrm>
            <a:off x="4084125" y="4048450"/>
            <a:ext cx="5184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43434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Average cumulative score over the period of evaluation for Website B | Joosen et al.</a:t>
            </a:r>
            <a:endParaRPr sz="1800">
              <a:solidFill>
                <a:srgbClr val="43434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9EAD3"/>
        </a:solid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8"/>
          <p:cNvSpPr txBox="1"/>
          <p:nvPr>
            <p:ph type="title"/>
          </p:nvPr>
        </p:nvSpPr>
        <p:spPr>
          <a:xfrm>
            <a:off x="311700" y="555600"/>
            <a:ext cx="76791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Times New Roman"/>
                <a:ea typeface="Times New Roman"/>
                <a:cs typeface="Times New Roman"/>
                <a:sym typeface="Times New Roman"/>
              </a:rPr>
              <a:t>Results</a:t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8" name="Google Shape;248;p38"/>
          <p:cNvSpPr txBox="1"/>
          <p:nvPr/>
        </p:nvSpPr>
        <p:spPr>
          <a:xfrm>
            <a:off x="8229600" y="0"/>
            <a:ext cx="914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25</a:t>
            </a:r>
            <a:endParaRPr sz="3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9" name="Google Shape;249;p38"/>
          <p:cNvSpPr txBox="1"/>
          <p:nvPr/>
        </p:nvSpPr>
        <p:spPr>
          <a:xfrm>
            <a:off x="264750" y="1311300"/>
            <a:ext cx="7773000" cy="31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Char char="●"/>
            </a:pPr>
            <a:r>
              <a:rPr lang="en" sz="2400">
                <a:latin typeface="Times New Roman"/>
                <a:ea typeface="Times New Roman"/>
                <a:cs typeface="Times New Roman"/>
                <a:sym typeface="Times New Roman"/>
              </a:rPr>
              <a:t>On website C, researchers did not have access to the score. Intended to test </a:t>
            </a:r>
            <a:r>
              <a:rPr i="1" lang="en" sz="2400">
                <a:latin typeface="Times New Roman"/>
                <a:ea typeface="Times New Roman"/>
                <a:cs typeface="Times New Roman"/>
                <a:sym typeface="Times New Roman"/>
              </a:rPr>
              <a:t>Abstract</a:t>
            </a:r>
            <a:r>
              <a:rPr lang="en" sz="2400">
                <a:latin typeface="Times New Roman"/>
                <a:ea typeface="Times New Roman"/>
                <a:cs typeface="Times New Roman"/>
                <a:sym typeface="Times New Roman"/>
              </a:rPr>
              <a:t>'s capabilities in a fully black-box environment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Char char="●"/>
            </a:pPr>
            <a:r>
              <a:rPr lang="en" sz="2400">
                <a:latin typeface="Times New Roman"/>
                <a:ea typeface="Times New Roman"/>
                <a:cs typeface="Times New Roman"/>
                <a:sym typeface="Times New Roman"/>
              </a:rPr>
              <a:t>Success measured by </a:t>
            </a:r>
            <a:r>
              <a:rPr b="1" lang="en" sz="2400">
                <a:latin typeface="Times New Roman"/>
                <a:ea typeface="Times New Roman"/>
                <a:cs typeface="Times New Roman"/>
                <a:sym typeface="Times New Roman"/>
              </a:rPr>
              <a:t>evasion rate</a:t>
            </a:r>
            <a:r>
              <a:rPr lang="en" sz="2400">
                <a:latin typeface="Times New Roman"/>
                <a:ea typeface="Times New Roman"/>
                <a:cs typeface="Times New Roman"/>
                <a:sym typeface="Times New Roman"/>
              </a:rPr>
              <a:t>, frequency of v3 seeming to detect no bot activity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Char char="●"/>
            </a:pPr>
            <a:r>
              <a:rPr lang="en" sz="2400">
                <a:latin typeface="Times New Roman"/>
                <a:ea typeface="Times New Roman"/>
                <a:cs typeface="Times New Roman"/>
                <a:sym typeface="Times New Roman"/>
              </a:rPr>
              <a:t>Evaluated for both high starting sessions (presence of static features) and low starting sessions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9EAD3"/>
        </a:solidFill>
      </p:bgPr>
    </p:bg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9"/>
          <p:cNvSpPr txBox="1"/>
          <p:nvPr>
            <p:ph type="title"/>
          </p:nvPr>
        </p:nvSpPr>
        <p:spPr>
          <a:xfrm>
            <a:off x="311700" y="555600"/>
            <a:ext cx="76791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Times New Roman"/>
                <a:ea typeface="Times New Roman"/>
                <a:cs typeface="Times New Roman"/>
                <a:sym typeface="Times New Roman"/>
              </a:rPr>
              <a:t>Results</a:t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5" name="Google Shape;255;p39"/>
          <p:cNvSpPr txBox="1"/>
          <p:nvPr/>
        </p:nvSpPr>
        <p:spPr>
          <a:xfrm>
            <a:off x="8229600" y="0"/>
            <a:ext cx="914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26</a:t>
            </a:r>
            <a:endParaRPr sz="3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6" name="Google Shape;256;p39"/>
          <p:cNvSpPr txBox="1"/>
          <p:nvPr/>
        </p:nvSpPr>
        <p:spPr>
          <a:xfrm>
            <a:off x="81650" y="1648200"/>
            <a:ext cx="3905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57" name="Google Shape;257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41625" y="1206625"/>
            <a:ext cx="3637850" cy="2446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66250" y="1304050"/>
            <a:ext cx="914400" cy="2349061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39"/>
          <p:cNvSpPr txBox="1"/>
          <p:nvPr/>
        </p:nvSpPr>
        <p:spPr>
          <a:xfrm>
            <a:off x="204100" y="1311300"/>
            <a:ext cx="4218300" cy="31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Char char="●"/>
            </a:pPr>
            <a:r>
              <a:rPr i="1" lang="en" sz="2400">
                <a:latin typeface="Times New Roman"/>
                <a:ea typeface="Times New Roman"/>
                <a:cs typeface="Times New Roman"/>
                <a:sym typeface="Times New Roman"/>
              </a:rPr>
              <a:t>Abstract</a:t>
            </a:r>
            <a:r>
              <a:rPr lang="en" sz="2400">
                <a:latin typeface="Times New Roman"/>
                <a:ea typeface="Times New Roman"/>
                <a:cs typeface="Times New Roman"/>
                <a:sym typeface="Times New Roman"/>
              </a:rPr>
              <a:t> almost perfectly avoided detection with static features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Char char="●"/>
            </a:pPr>
            <a:r>
              <a:rPr lang="en" sz="2400">
                <a:latin typeface="Times New Roman"/>
                <a:ea typeface="Times New Roman"/>
                <a:cs typeface="Times New Roman"/>
                <a:sym typeface="Times New Roman"/>
              </a:rPr>
              <a:t>Starting from a low score with minimal static data, </a:t>
            </a:r>
            <a:r>
              <a:rPr i="1" lang="en" sz="2400">
                <a:latin typeface="Times New Roman"/>
                <a:ea typeface="Times New Roman"/>
                <a:cs typeface="Times New Roman"/>
                <a:sym typeface="Times New Roman"/>
              </a:rPr>
              <a:t>Abstract</a:t>
            </a:r>
            <a:r>
              <a:rPr lang="en" sz="2400">
                <a:latin typeface="Times New Roman"/>
                <a:ea typeface="Times New Roman"/>
                <a:cs typeface="Times New Roman"/>
                <a:sym typeface="Times New Roman"/>
              </a:rPr>
              <a:t> succeeded at a rate of ~70%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0" name="Google Shape;260;p39"/>
          <p:cNvSpPr txBox="1"/>
          <p:nvPr/>
        </p:nvSpPr>
        <p:spPr>
          <a:xfrm>
            <a:off x="4572000" y="3746650"/>
            <a:ext cx="46401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Evasion rate (in %) for both the </a:t>
            </a:r>
            <a:r>
              <a:rPr i="1" lang="en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Baseline </a:t>
            </a:r>
            <a:r>
              <a:rPr lang="en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 </a:t>
            </a:r>
            <a:r>
              <a:rPr i="1" lang="en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Abstract </a:t>
            </a:r>
            <a:r>
              <a:rPr lang="en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algorithms across different session types | Joosen et al.</a:t>
            </a:r>
            <a:endParaRPr sz="18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1" name="Google Shape;261;p39"/>
          <p:cNvSpPr/>
          <p:nvPr/>
        </p:nvSpPr>
        <p:spPr>
          <a:xfrm>
            <a:off x="4770125" y="2758450"/>
            <a:ext cx="3905700" cy="411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39"/>
          <p:cNvSpPr/>
          <p:nvPr/>
        </p:nvSpPr>
        <p:spPr>
          <a:xfrm>
            <a:off x="4671050" y="1206625"/>
            <a:ext cx="693300" cy="119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9EAD3"/>
        </a:solidFill>
      </p:bgPr>
    </p:bg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40"/>
          <p:cNvSpPr txBox="1"/>
          <p:nvPr>
            <p:ph type="title"/>
          </p:nvPr>
        </p:nvSpPr>
        <p:spPr>
          <a:xfrm>
            <a:off x="311700" y="555600"/>
            <a:ext cx="55473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Times New Roman"/>
                <a:ea typeface="Times New Roman"/>
                <a:cs typeface="Times New Roman"/>
                <a:sym typeface="Times New Roman"/>
              </a:rPr>
              <a:t>Analysis</a:t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8" name="Google Shape;268;p40"/>
          <p:cNvSpPr txBox="1"/>
          <p:nvPr/>
        </p:nvSpPr>
        <p:spPr>
          <a:xfrm>
            <a:off x="8229600" y="0"/>
            <a:ext cx="914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27</a:t>
            </a:r>
            <a:endParaRPr sz="3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9" name="Google Shape;269;p40"/>
          <p:cNvSpPr txBox="1"/>
          <p:nvPr>
            <p:ph idx="1" type="body"/>
          </p:nvPr>
        </p:nvSpPr>
        <p:spPr>
          <a:xfrm>
            <a:off x="311700" y="1389600"/>
            <a:ext cx="42603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●"/>
            </a:pPr>
            <a:r>
              <a:rPr lang="en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Research Implications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●"/>
            </a:pPr>
            <a:r>
              <a:rPr lang="en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Limitations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●"/>
            </a:pPr>
            <a:r>
              <a:rPr lang="en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Future of CAPTCHA Tools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●"/>
            </a:pPr>
            <a:r>
              <a:rPr lang="en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Ethical Considerations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70" name="Google Shape;270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88100" y="1215600"/>
            <a:ext cx="3522231" cy="35273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9EAD3"/>
        </a:solidFill>
      </p:bgPr>
    </p:bg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41"/>
          <p:cNvSpPr txBox="1"/>
          <p:nvPr>
            <p:ph type="title"/>
          </p:nvPr>
        </p:nvSpPr>
        <p:spPr>
          <a:xfrm>
            <a:off x="393350" y="501175"/>
            <a:ext cx="83697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Times New Roman"/>
                <a:ea typeface="Times New Roman"/>
                <a:cs typeface="Times New Roman"/>
                <a:sym typeface="Times New Roman"/>
              </a:rPr>
              <a:t>Research Implications</a:t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6" name="Google Shape;276;p41"/>
          <p:cNvSpPr txBox="1"/>
          <p:nvPr/>
        </p:nvSpPr>
        <p:spPr>
          <a:xfrm>
            <a:off x="8229600" y="0"/>
            <a:ext cx="914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28</a:t>
            </a:r>
            <a:endParaRPr sz="3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7" name="Google Shape;277;p41"/>
          <p:cNvSpPr txBox="1"/>
          <p:nvPr>
            <p:ph idx="1" type="body"/>
          </p:nvPr>
        </p:nvSpPr>
        <p:spPr>
          <a:xfrm>
            <a:off x="311700" y="1389600"/>
            <a:ext cx="79179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●"/>
            </a:pPr>
            <a:r>
              <a:rPr lang="en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results suggest that providing a CAPTCHA score is a vulnerability, can be exploited to: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○"/>
            </a:pPr>
            <a:r>
              <a:rPr lang="en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Train machines to receive a passing score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○"/>
            </a:pPr>
            <a:r>
              <a:rPr lang="en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Probe what behavior data is being measured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9EAD3"/>
        </a:solidFill>
      </p:bgPr>
    </p:bg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42"/>
          <p:cNvSpPr txBox="1"/>
          <p:nvPr>
            <p:ph type="title"/>
          </p:nvPr>
        </p:nvSpPr>
        <p:spPr>
          <a:xfrm>
            <a:off x="393350" y="501175"/>
            <a:ext cx="83697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Times New Roman"/>
                <a:ea typeface="Times New Roman"/>
                <a:cs typeface="Times New Roman"/>
                <a:sym typeface="Times New Roman"/>
              </a:rPr>
              <a:t>Research Implications</a:t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3" name="Google Shape;283;p42"/>
          <p:cNvSpPr txBox="1"/>
          <p:nvPr/>
        </p:nvSpPr>
        <p:spPr>
          <a:xfrm>
            <a:off x="8229600" y="0"/>
            <a:ext cx="914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29</a:t>
            </a:r>
            <a:endParaRPr sz="3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4" name="Google Shape;284;p42"/>
          <p:cNvSpPr txBox="1"/>
          <p:nvPr>
            <p:ph idx="1" type="body"/>
          </p:nvPr>
        </p:nvSpPr>
        <p:spPr>
          <a:xfrm>
            <a:off x="311700" y="1389600"/>
            <a:ext cx="7917900" cy="350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CAPTCHAs based on these metrics may be insecure as a whole: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●"/>
            </a:pPr>
            <a:r>
              <a:rPr lang="en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They are easily bypassed by models trained to mimic human browsing 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●"/>
            </a:pPr>
            <a:r>
              <a:rPr lang="en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They are apparently biased in favor of static variables easily accounted for by attackers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9EAD3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43"/>
          <p:cNvSpPr txBox="1"/>
          <p:nvPr>
            <p:ph type="title"/>
          </p:nvPr>
        </p:nvSpPr>
        <p:spPr>
          <a:xfrm>
            <a:off x="311700" y="555600"/>
            <a:ext cx="64047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Times New Roman"/>
                <a:ea typeface="Times New Roman"/>
                <a:cs typeface="Times New Roman"/>
                <a:sym typeface="Times New Roman"/>
              </a:rPr>
              <a:t>Limitations</a:t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0" name="Google Shape;290;p43"/>
          <p:cNvSpPr txBox="1"/>
          <p:nvPr/>
        </p:nvSpPr>
        <p:spPr>
          <a:xfrm>
            <a:off x="8229600" y="0"/>
            <a:ext cx="914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30</a:t>
            </a:r>
            <a:endParaRPr sz="3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1" name="Google Shape;291;p43"/>
          <p:cNvSpPr txBox="1"/>
          <p:nvPr>
            <p:ph idx="1" type="body"/>
          </p:nvPr>
        </p:nvSpPr>
        <p:spPr>
          <a:xfrm>
            <a:off x="311700" y="1389600"/>
            <a:ext cx="79179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●"/>
            </a:pP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reCAPTCHA v3 is known to intentionally add random noise, obscuring the meaning of the score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●"/>
            </a:pP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Models cannot remain active over long periods of time, since excessive number of requests influences the score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●"/>
            </a:pP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 accounting for combining CAPTCHA schemes or using different metrics-based CAPTCHA tools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9EAD3"/>
        </a:solidFill>
      </p:bgPr>
    </p:bg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44"/>
          <p:cNvSpPr txBox="1"/>
          <p:nvPr>
            <p:ph type="title"/>
          </p:nvPr>
        </p:nvSpPr>
        <p:spPr>
          <a:xfrm>
            <a:off x="311700" y="555600"/>
            <a:ext cx="64047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Times New Roman"/>
                <a:ea typeface="Times New Roman"/>
                <a:cs typeface="Times New Roman"/>
                <a:sym typeface="Times New Roman"/>
              </a:rPr>
              <a:t>Limitations</a:t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7" name="Google Shape;297;p44"/>
          <p:cNvSpPr txBox="1"/>
          <p:nvPr/>
        </p:nvSpPr>
        <p:spPr>
          <a:xfrm>
            <a:off x="8229600" y="0"/>
            <a:ext cx="914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31</a:t>
            </a:r>
            <a:endParaRPr sz="3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8" name="Google Shape;298;p44"/>
          <p:cNvSpPr txBox="1"/>
          <p:nvPr>
            <p:ph idx="1" type="body"/>
          </p:nvPr>
        </p:nvSpPr>
        <p:spPr>
          <a:xfrm>
            <a:off x="311700" y="1389600"/>
            <a:ext cx="79179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●"/>
            </a:pP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reCAPTCHA v3 likely employs adversarial learning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●"/>
            </a:pP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More study of how the tool has changed over time is needed, could improve or remain the same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●"/>
            </a:pP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also makes past experiments harder to replicate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9EAD3"/>
        </a:solidFill>
      </p:bgPr>
    </p:bg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45"/>
          <p:cNvSpPr txBox="1"/>
          <p:nvPr>
            <p:ph type="title"/>
          </p:nvPr>
        </p:nvSpPr>
        <p:spPr>
          <a:xfrm>
            <a:off x="311700" y="555600"/>
            <a:ext cx="64047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Times New Roman"/>
                <a:ea typeface="Times New Roman"/>
                <a:cs typeface="Times New Roman"/>
                <a:sym typeface="Times New Roman"/>
              </a:rPr>
              <a:t>Future of CAPTCHA Tools</a:t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4" name="Google Shape;304;p45"/>
          <p:cNvSpPr txBox="1"/>
          <p:nvPr/>
        </p:nvSpPr>
        <p:spPr>
          <a:xfrm>
            <a:off x="8229600" y="0"/>
            <a:ext cx="914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32</a:t>
            </a:r>
            <a:endParaRPr sz="3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5" name="Google Shape;305;p45"/>
          <p:cNvSpPr txBox="1"/>
          <p:nvPr>
            <p:ph idx="1" type="body"/>
          </p:nvPr>
        </p:nvSpPr>
        <p:spPr>
          <a:xfrm>
            <a:off x="311700" y="1389600"/>
            <a:ext cx="8453700" cy="368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●"/>
            </a:pPr>
            <a:r>
              <a:rPr lang="en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CAPTCHA tools may pivot to more complex challenges for humans, possibly focusing more on spatial reasoning and logic puzzles (many do already)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●"/>
            </a:pPr>
            <a:r>
              <a:rPr lang="en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Current CAPTCHAs using behavior metrics may improve over time, but so will AI models to bypass them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9EAD3"/>
        </a:solidFill>
      </p:bgPr>
    </p:bg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46"/>
          <p:cNvSpPr txBox="1"/>
          <p:nvPr>
            <p:ph type="title"/>
          </p:nvPr>
        </p:nvSpPr>
        <p:spPr>
          <a:xfrm>
            <a:off x="311700" y="555600"/>
            <a:ext cx="64047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Times New Roman"/>
                <a:ea typeface="Times New Roman"/>
                <a:cs typeface="Times New Roman"/>
                <a:sym typeface="Times New Roman"/>
              </a:rPr>
              <a:t>Future of CAPTCHA Tools</a:t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1" name="Google Shape;311;p46"/>
          <p:cNvSpPr txBox="1"/>
          <p:nvPr/>
        </p:nvSpPr>
        <p:spPr>
          <a:xfrm>
            <a:off x="8229600" y="0"/>
            <a:ext cx="914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33</a:t>
            </a:r>
            <a:endParaRPr sz="3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2" name="Google Shape;312;p46"/>
          <p:cNvSpPr txBox="1"/>
          <p:nvPr>
            <p:ph idx="1" type="body"/>
          </p:nvPr>
        </p:nvSpPr>
        <p:spPr>
          <a:xfrm>
            <a:off x="311700" y="1389600"/>
            <a:ext cx="8453700" cy="368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●"/>
            </a:pPr>
            <a:r>
              <a:rPr lang="en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Von Ahn et al. designed CAPTCHAs with the intention of being broken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○"/>
            </a:pPr>
            <a:r>
              <a:rPr lang="en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 AI evolves, breaking CAPTCHA schemes is proof of progress in the field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○"/>
            </a:pPr>
            <a:r>
              <a:rPr lang="en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CAPTCHA will always change as breakthroughs occur, but for how long will this remain effective?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9EAD3"/>
        </a:solidFill>
      </p:bgPr>
    </p:bg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47"/>
          <p:cNvSpPr txBox="1"/>
          <p:nvPr>
            <p:ph type="title"/>
          </p:nvPr>
        </p:nvSpPr>
        <p:spPr>
          <a:xfrm>
            <a:off x="311700" y="555600"/>
            <a:ext cx="64047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Times New Roman"/>
                <a:ea typeface="Times New Roman"/>
                <a:cs typeface="Times New Roman"/>
                <a:sym typeface="Times New Roman"/>
              </a:rPr>
              <a:t>Ethical Considerations</a:t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8" name="Google Shape;318;p47"/>
          <p:cNvSpPr txBox="1"/>
          <p:nvPr/>
        </p:nvSpPr>
        <p:spPr>
          <a:xfrm>
            <a:off x="8229600" y="0"/>
            <a:ext cx="914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34</a:t>
            </a:r>
            <a:endParaRPr sz="3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9" name="Google Shape;319;p47"/>
          <p:cNvSpPr txBox="1"/>
          <p:nvPr>
            <p:ph idx="1" type="body"/>
          </p:nvPr>
        </p:nvSpPr>
        <p:spPr>
          <a:xfrm>
            <a:off x="311700" y="1389600"/>
            <a:ext cx="79179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Responsible disclosure: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●"/>
            </a:pPr>
            <a:r>
              <a:rPr lang="en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Researchers received permission from website owners before deploying their bots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●"/>
            </a:pPr>
            <a:r>
              <a:rPr lang="en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Google was notified of these security concerns. The issue was closed as intended behavior, likely considered to be a "reasonable limitation" of the tool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9EAD3"/>
        </a:solidFill>
      </p:bgPr>
    </p:bg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48"/>
          <p:cNvSpPr txBox="1"/>
          <p:nvPr>
            <p:ph type="title"/>
          </p:nvPr>
        </p:nvSpPr>
        <p:spPr>
          <a:xfrm>
            <a:off x="311700" y="555600"/>
            <a:ext cx="55473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5" name="Google Shape;325;p48"/>
          <p:cNvSpPr txBox="1"/>
          <p:nvPr/>
        </p:nvSpPr>
        <p:spPr>
          <a:xfrm>
            <a:off x="8229600" y="0"/>
            <a:ext cx="914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35</a:t>
            </a:r>
            <a:endParaRPr sz="3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6" name="Google Shape;326;p48"/>
          <p:cNvSpPr txBox="1"/>
          <p:nvPr>
            <p:ph idx="1" type="body"/>
          </p:nvPr>
        </p:nvSpPr>
        <p:spPr>
          <a:xfrm>
            <a:off x="311700" y="1389600"/>
            <a:ext cx="79179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●"/>
            </a:pPr>
            <a:r>
              <a:rPr lang="en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CAPTCHA</a:t>
            </a:r>
            <a:r>
              <a:rPr lang="en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security is an important but persistent problem as AI becomes more sophisticated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●"/>
            </a:pPr>
            <a:r>
              <a:rPr lang="en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Today's Captcha tools face challenges that reduce their effectiveness, but will continue to grow over time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9EAD3"/>
        </a:solidFill>
      </p:bgPr>
    </p:bg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49"/>
          <p:cNvSpPr txBox="1"/>
          <p:nvPr>
            <p:ph type="title"/>
          </p:nvPr>
        </p:nvSpPr>
        <p:spPr>
          <a:xfrm>
            <a:off x="2391450" y="2003400"/>
            <a:ext cx="4361100" cy="1136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>
                <a:latin typeface="Times New Roman"/>
                <a:ea typeface="Times New Roman"/>
                <a:cs typeface="Times New Roman"/>
                <a:sym typeface="Times New Roman"/>
              </a:rPr>
              <a:t>Questions?</a:t>
            </a:r>
            <a:endParaRPr sz="7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9EAD3"/>
        </a:solidFill>
      </p:bgPr>
    </p:bg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50"/>
          <p:cNvSpPr txBox="1"/>
          <p:nvPr>
            <p:ph type="title"/>
          </p:nvPr>
        </p:nvSpPr>
        <p:spPr>
          <a:xfrm>
            <a:off x="1798350" y="0"/>
            <a:ext cx="55473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Times New Roman"/>
                <a:ea typeface="Times New Roman"/>
                <a:cs typeface="Times New Roman"/>
                <a:sym typeface="Times New Roman"/>
              </a:rPr>
              <a:t>References</a:t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7" name="Google Shape;337;p50"/>
          <p:cNvSpPr txBox="1"/>
          <p:nvPr>
            <p:ph idx="1" type="body"/>
          </p:nvPr>
        </p:nvSpPr>
        <p:spPr>
          <a:xfrm>
            <a:off x="311700" y="757950"/>
            <a:ext cx="4260300" cy="424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[1] Von Ahn, L., Blum, M., Hopper, N., &amp; Langford, J. (2003). CAPTCHA: Using Hard AI Problems for Security. International Association for Cryptologic Research 2003. </a:t>
            </a:r>
            <a:r>
              <a:rPr lang="en" sz="13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https://doi.org/10.1007/3-540-39200-9_18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[2] Turing, A. (1950). Computing Machinery and Intelligence. Mind, 59(236), 433–460. </a:t>
            </a:r>
            <a:r>
              <a:rPr lang="en" sz="13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https://doi.org/10.1093/mind/LIX.236.433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[3] Von Ahn, L., Maurer, B., McMillen, C., Abraham, D., &amp; Blum, M. (2008). reCAPTCHA: Human-Based Character Recognition via Web Security Measures. Science, 321(5895), 1465–1468. </a:t>
            </a:r>
            <a:r>
              <a:rPr lang="en" sz="13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https://doi.org/10.1126/science.1160379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[4] Tizhoosh, H. R., &amp; Taylor, G. W. (2006). Reinforced Contrast Adaptation. International Journal of Image and Graphics, 06(03), 377–392.</a:t>
            </a: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3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https://doi.org/10.1142/s0219467806002379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8" name="Google Shape;338;p50"/>
          <p:cNvSpPr txBox="1"/>
          <p:nvPr>
            <p:ph idx="1" type="body"/>
          </p:nvPr>
        </p:nvSpPr>
        <p:spPr>
          <a:xfrm>
            <a:off x="4572000" y="757950"/>
            <a:ext cx="4260300" cy="438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[5] reCAPTCHA Usage Statistics. Trends.builtwith.com. Retrieved November 3, 2025, from </a:t>
            </a:r>
            <a:r>
              <a:rPr lang="en" sz="13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https://trends.builtwith.com/widgets/reCAPTCHA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[6] Tsingenopoulos, I., Preuveneers, D., Desmet, L., &amp; Joosen, W. (2022, June 1). Captcha me if you can: Imitation Games with Reinforcement Learning. IEEE Xplore. </a:t>
            </a:r>
            <a:r>
              <a:rPr lang="en" sz="1300" u="sng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https://doi.org/10.1109/EuroSP53844.2022.00050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[7] Cuthbertson, A. (2025, April 15). Bots now make up more than half of global internet traffic. The Independent. </a:t>
            </a:r>
            <a:r>
              <a:rPr lang="en" sz="13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https://www.the-independent.com/tech/bots-internet-traffic-ai-chatgpt-b2733450.html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